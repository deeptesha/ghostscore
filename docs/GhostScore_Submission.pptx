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67c1c4ba4d5f44ad" /><Relationship Type="http://schemas.openxmlformats.org/package/2006/relationships/metadata/core-properties" Target="/docProps/core.xml" Id="R29dd0b59aa5041dd" /><Relationship Type="http://schemas.openxmlformats.org/officeDocument/2006/relationships/extended-properties" Target="/docProps/app.xml" Id="Rfc02c736512a4746" /><Relationship Type="http://schemas.openxmlformats.org/officeDocument/2006/relationships/custom-properties" Target="/docProps/custom.xml" Id="Reb3cb2c5386147cd"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4f62f666f3cc4f76"/>
  </p:notesMasterIdLst>
  <p:sldIdLst>
    <p:sldId id="256" r:id="Rb2352ef5d95c407e"/>
    <p:sldId id="257" r:id="R6dcddd952e624d63"/>
    <p:sldId id="258" r:id="Rbbb8294aba054d2c"/>
    <p:sldId id="259" r:id="Ra0265fe48e2c45ed"/>
    <p:sldId id="260" r:id="R0e854ca153e54854"/>
    <p:sldId id="261" r:id="Ref70c7adf5de4d15"/>
    <p:sldId id="262" r:id="R0602428e667545fe"/>
    <p:sldId id="263" r:id="R09f6149e641a4f8d"/>
    <p:sldId id="264" r:id="Rc1d0b29f632d475a"/>
    <p:sldId id="265" r:id="R81826f2f54e34f30"/>
    <p:sldId id="266" r:id="R6120186521134f36"/>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b2352ef5d95c407e" /><Relationship Type="http://schemas.openxmlformats.org/officeDocument/2006/relationships/notesMaster" Target="/ppt/notesMasters/notesMaster1.xml" Id="R4f62f666f3cc4f76" /><Relationship Type="http://schemas.openxmlformats.org/officeDocument/2006/relationships/slide" Target="/ppt/slides/slide2.xml" Id="R6dcddd952e624d63" /><Relationship Type="http://schemas.openxmlformats.org/officeDocument/2006/relationships/slide" Target="/ppt/slides/slide3.xml" Id="Rbbb8294aba054d2c" /><Relationship Type="http://schemas.openxmlformats.org/officeDocument/2006/relationships/slide" Target="/ppt/slides/slide4.xml" Id="Ra0265fe48e2c45ed" /><Relationship Type="http://schemas.openxmlformats.org/officeDocument/2006/relationships/slide" Target="/ppt/slides/slide5.xml" Id="R0e854ca153e54854" /><Relationship Type="http://schemas.openxmlformats.org/officeDocument/2006/relationships/slide" Target="/ppt/slides/slide6.xml" Id="Ref70c7adf5de4d15" /><Relationship Type="http://schemas.openxmlformats.org/officeDocument/2006/relationships/slide" Target="/ppt/slides/slide7.xml" Id="R0602428e667545fe" /><Relationship Type="http://schemas.openxmlformats.org/officeDocument/2006/relationships/slide" Target="/ppt/slides/slide8.xml" Id="R09f6149e641a4f8d" /><Relationship Type="http://schemas.openxmlformats.org/officeDocument/2006/relationships/slide" Target="/ppt/slides/slide9.xml" Id="Rc1d0b29f632d475a" /><Relationship Type="http://schemas.openxmlformats.org/officeDocument/2006/relationships/slide" Target="/ppt/slides/slide10.xml" Id="R81826f2f54e34f30" /><Relationship Type="http://schemas.openxmlformats.org/officeDocument/2006/relationships/slide" Target="/ppt/slides/slide11.xml" Id="R6120186521134f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f6ee095d2f94f6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02015f963f4942c2" /><Relationship Type="http://schemas.openxmlformats.org/officeDocument/2006/relationships/slide" Target="/ppt/slides/slide1.xml" Id="Raa0e220807dc4b78"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dfbcbcfc36dc4669" /><Relationship Type="http://schemas.openxmlformats.org/officeDocument/2006/relationships/slide" Target="/ppt/slides/slide2.xml" Id="Rfbb6c672eafc494b"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bba5978cb6934a0f" /><Relationship Type="http://schemas.openxmlformats.org/officeDocument/2006/relationships/slide" Target="/ppt/slides/slide3.xml" Id="R0118a0eb485949b8"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61ffee0fbb3f4c56" /><Relationship Type="http://schemas.openxmlformats.org/officeDocument/2006/relationships/slide" Target="/ppt/slides/slide4.xml" Id="Refe5139a7d07493f"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59b45ea53fa34f88" /><Relationship Type="http://schemas.openxmlformats.org/officeDocument/2006/relationships/slide" Target="/ppt/slides/slide5.xml" Id="Rcdc1987cee3d471d"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75d77bf5d325431b" /><Relationship Type="http://schemas.openxmlformats.org/officeDocument/2006/relationships/slide" Target="/ppt/slides/slide6.xml" Id="R36d0e447755540ba"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0c4557634afd4753" /><Relationship Type="http://schemas.openxmlformats.org/officeDocument/2006/relationships/slide" Target="/ppt/slides/slide7.xml" Id="R6ef49c9955194bd1"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cf4dad7d6a404c04" /><Relationship Type="http://schemas.openxmlformats.org/officeDocument/2006/relationships/slide" Target="/ppt/slides/slide8.xml" Id="Rdb0b56e6b9fa4a3b"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3c18744e6cc342d0" /><Relationship Type="http://schemas.openxmlformats.org/officeDocument/2006/relationships/slide" Target="/ppt/slides/slide9.xml" Id="Rb9866d6e50e948db"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5ac01af9b7014f71" /><Relationship Type="http://schemas.openxmlformats.org/officeDocument/2006/relationships/slide" Target="/ppt/slides/slide10.xml" Id="R0877f7cb7c8e4e32"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c1e2706b17a04765" /><Relationship Type="http://schemas.openxmlformats.org/officeDocument/2006/relationships/slide" Target="/ppt/slides/slide11.xml" Id="R9f4ef5c6d7c541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Team name and leader are placeholders: the PDF template had them blank and I do not know them.</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Lead with Priya: pays on time every month, invisible to a bureau.</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USP is the what-if loop with a hard rule that the LLM never invents numbers.</a:t>
            </a:r>
          </a:p>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a:r>
              <a:rPr lang="en-US"/>
              <a:t>Be careful on the last bullet: in local mode Hindi and Marathi come from a fixed translation table, not Gemini. Real translation is Gemini P7 in Google Cloud mode, which has not been run. The wording was drafted by an AI assistant and has not been reviewed by a native speaker.</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 the five boxes left to right.</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Read top to bottom. Point out the amber compliance bar and the status note.</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Real screenshots of the running prototype with synthetic persona Priya, in local mode.</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eight Google services are used in the design; in the prototype they run as labelled stubs unless MODE=gcp.</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Do not present the latency as production performance. Re-measure after deploying to Cloud Run.</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Item 4 is a known gap: the current score screen shows global model weights.</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three links are placeholders: none exist yet.</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fa1a02fa14e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3b462079bb48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97c2946d564b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e47a0db75242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a727a412524933"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23d644ba889d4f58"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f34204e213914d2f" /><Relationship Type="http://schemas.openxmlformats.org/officeDocument/2006/relationships/notesSlide" Target="/ppt/notesSlides/notesSlide1.xml" Id="R1a7ec56c395d4c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4171a6543d48e9" /><Relationship Type="http://schemas.openxmlformats.org/officeDocument/2006/relationships/notesSlide" Target="/ppt/notesSlides/notesSlide2.xml" Id="R8b7491ea121443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f3bf0518cf4c8d" /><Relationship Type="http://schemas.openxmlformats.org/officeDocument/2006/relationships/notesSlide" Target="/ppt/notesSlides/notesSlide3.xml" Id="R7884bee077e745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f55048b5854419" /><Relationship Type="http://schemas.openxmlformats.org/officeDocument/2006/relationships/notesSlide" Target="/ppt/notesSlides/notesSlide4.xml" Id="Reb9de40dad8e45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f8d483ee004d48" /><Relationship Type="http://schemas.openxmlformats.org/officeDocument/2006/relationships/notesSlide" Target="/ppt/notesSlides/notesSlide5.xml" Id="Reb20dd1bd9204e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fe12f9f34147d2" /><Relationship Type="http://schemas.openxmlformats.org/officeDocument/2006/relationships/notesSlide" Target="/ppt/notesSlides/notesSlide6.xml" Id="Rf6b89c8213f34b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8ebd7e54bb4993" /><Relationship Type="http://schemas.openxmlformats.org/officeDocument/2006/relationships/image" Target="/ppt/media/image5.png" Id="Rbabab28d9ca04ac7" /><Relationship Type="http://schemas.openxmlformats.org/officeDocument/2006/relationships/image" Target="/ppt/media/image6.png" Id="R577c98a1335543bd" /><Relationship Type="http://schemas.openxmlformats.org/officeDocument/2006/relationships/image" Target="/ppt/media/image7.png" Id="R8f5aa40c78134c53" /><Relationship Type="http://schemas.openxmlformats.org/officeDocument/2006/relationships/image" Target="/ppt/media/image8.png" Id="R1037154d4f514d9f" /><Relationship Type="http://schemas.openxmlformats.org/officeDocument/2006/relationships/notesSlide" Target="/ppt/notesSlides/notesSlide7.xml" Id="Rf81ef91f2d824c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c038dbe10d460c" /><Relationship Type="http://schemas.openxmlformats.org/officeDocument/2006/relationships/notesSlide" Target="/ppt/notesSlides/notesSlide8.xml" Id="Rf8bf785db94f4b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83b3d59e2b4bbc" /><Relationship Type="http://schemas.openxmlformats.org/officeDocument/2006/relationships/notesSlide" Target="/ppt/notesSlides/notesSlide9.xml" Id="Rc1e10a362dac43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73dfed25cf42a6" /><Relationship Type="http://schemas.openxmlformats.org/officeDocument/2006/relationships/notesSlide" Target="/ppt/notesSlides/notesSlide10.xml" Id="R5903698fc5cc45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d3ef8e5e29472c" /><Relationship Type="http://schemas.openxmlformats.org/officeDocument/2006/relationships/notesSlide" Target="/ppt/notesSlides/notesSlide11.xml" Id="Rc12ac9704d26426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0" name="Title"/>
          <p:cNvSpPr txBox="1"/>
          <p:nvPr/>
        </p:nvSpPr>
        <p:spPr>
          <a:xfrm xmlns:a="http://schemas.openxmlformats.org/drawingml/2006/main">
            <a:off x="540000" y="360000"/>
            <a:ext cx="1116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004943"/>
                </a:solidFill>
              </a:rPr>
              <a:t>Team Details</a:t>
            </a:r>
          </a:p>
        </p:txBody>
      </p:sp>
      <p:sp>
        <p:nvSpPr>
          <p:cNvPr id="100001" name="Body"/>
          <p:cNvSpPr txBox="1"/>
          <p:nvPr/>
        </p:nvSpPr>
        <p:spPr>
          <a:xfrm xmlns:a="http://schemas.openxmlformats.org/drawingml/2006/main">
            <a:off x="540000" y="1620000"/>
            <a:ext cx="10980000" cy="36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a:solidFill>
                  <a:srgbClr val="1A1C1C"/>
                </a:solidFill>
              </a:rPr>
              <a:t>a. Team name: [FILL IN]</a:t>
            </a:r>
          </a:p>
          <a:p xmlns:a="http://schemas.openxmlformats.org/drawingml/2006/main">
            <a:r>
              <a:rPr lang="en-US" sz="2400">
                <a:solidFill>
                  <a:srgbClr val="1A1C1C"/>
                </a:solidFill>
              </a:rPr>
              <a:t/>
            </a:r>
          </a:p>
          <a:p xmlns:a="http://schemas.openxmlformats.org/drawingml/2006/main">
            <a:r>
              <a:rPr lang="en-US" sz="2400">
                <a:solidFill>
                  <a:srgbClr val="1A1C1C"/>
                </a:solidFill>
              </a:rPr>
              <a:t>b. Team leader name: [FILL IN]</a:t>
            </a:r>
          </a:p>
          <a:p xmlns:a="http://schemas.openxmlformats.org/drawingml/2006/main">
            <a:r>
              <a:rPr lang="en-US" sz="2400">
                <a:solidFill>
                  <a:srgbClr val="1A1C1C"/>
                </a:solidFill>
              </a:rPr>
              <a:t/>
            </a:r>
          </a:p>
          <a:p xmlns:a="http://schemas.openxmlformats.org/drawingml/2006/main">
            <a:r>
              <a:rPr lang="en-US" sz="2400">
                <a:solidFill>
                  <a:srgbClr val="1A1C1C"/>
                </a:solidFill>
              </a:rPr>
              <a:t>c. Problem Statement: BFSI - Intelligent Risk, Fraud &amp; Financial Experiences. Millions of people pay rent, bills and UPI on time but have no credit file, so lenders cannot see them and they get no explanation or path forward.</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2" name="Title"/>
          <p:cNvSpPr txBox="1"/>
          <p:nvPr/>
        </p:nvSpPr>
        <p:spPr>
          <a:xfrm xmlns:a="http://schemas.openxmlformats.org/drawingml/2006/main">
            <a:off x="540000" y="360000"/>
            <a:ext cx="1116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004943"/>
                </a:solidFill>
              </a:rPr>
              <a:t>Brief about the idea</a:t>
            </a:r>
          </a:p>
        </p:txBody>
      </p:sp>
      <p:sp>
        <p:nvSpPr>
          <p:cNvPr id="100003" name="Body"/>
          <p:cNvSpPr txBox="1"/>
          <p:nvPr/>
        </p:nvSpPr>
        <p:spPr>
          <a:xfrm xmlns:a="http://schemas.openxmlformats.org/drawingml/2006/main">
            <a:off x="540000" y="1620000"/>
            <a:ext cx="10980000" cy="39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a:solidFill>
                  <a:srgbClr val="1A1C1C"/>
                </a:solidFill>
              </a:rPr>
              <a:t>GhostScore turns everyday payment records (electricity bills, rent receipts, UPI screenshots) into an explainable credit-readiness band, then shows the applicant concrete steps to improve it.</a:t>
            </a:r>
          </a:p>
          <a:p xmlns:a="http://schemas.openxmlformats.org/drawingml/2006/main">
            <a:r>
              <a:rPr lang="en-US" sz="2400">
                <a:solidFill>
                  <a:srgbClr val="1A1C1C"/>
                </a:solidFill>
              </a:rPr>
              <a:t/>
            </a:r>
          </a:p>
          <a:p xmlns:a="http://schemas.openxmlformats.org/drawingml/2006/main">
            <a:r>
              <a:rPr lang="en-US" sz="2400">
                <a:solidFill>
                  <a:srgbClr val="1A1C1C"/>
                </a:solidFill>
              </a:rPr>
              <a:t>Score it. Explain it. Show the way up.</a:t>
            </a:r>
          </a:p>
          <a:p xmlns:a="http://schemas.openxmlformats.org/drawingml/2006/main">
            <a:r>
              <a:rPr lang="en-US" sz="2400">
                <a:solidFill>
                  <a:srgbClr val="1A1C1C"/>
                </a:solidFill>
              </a:rPr>
              <a:t/>
            </a:r>
          </a:p>
          <a:p xmlns:a="http://schemas.openxmlformats.org/drawingml/2006/main">
            <a:r>
              <a:rPr lang="en-US" sz="2400">
                <a:solidFill>
                  <a:srgbClr val="1A1C1C"/>
                </a:solidFill>
              </a:rPr>
              <a:t>Built entirely on Google Cloud. The working prototype runs on synthetic personas.</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4" name="Title"/>
          <p:cNvSpPr txBox="1"/>
          <p:nvPr/>
        </p:nvSpPr>
        <p:spPr>
          <a:xfrm xmlns:a="http://schemas.openxmlformats.org/drawingml/2006/main">
            <a:off x="540000" y="360000"/>
            <a:ext cx="1116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004943"/>
                </a:solidFill>
              </a:rPr>
              <a:t>Opportunities</a:t>
            </a:r>
          </a:p>
        </p:txBody>
      </p:sp>
      <p:sp>
        <p:nvSpPr>
          <p:cNvPr id="100005" name="Body"/>
          <p:cNvSpPr txBox="1"/>
          <p:nvPr/>
        </p:nvSpPr>
        <p:spPr>
          <a:xfrm xmlns:a="http://schemas.openxmlformats.org/drawingml/2006/main">
            <a:off x="540000" y="1440000"/>
            <a:ext cx="10980000" cy="46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1A1C1C"/>
                </a:solidFill>
              </a:rPr>
              <a:t>How is it different?</a:t>
            </a:r>
          </a:p>
          <a:p xmlns:a="http://schemas.openxmlformats.org/drawingml/2006/main">
            <a:r>
              <a:rPr lang="en-US" sz="2000">
                <a:solidFill>
                  <a:srgbClr val="1A1C1C"/>
                </a:solidFill>
              </a:rPr>
              <a:t>Most alternative-scoring ideas stop at a number. GhostScore closes the loop: score, plain-language explanation, then ranked next steps.</a:t>
            </a:r>
          </a:p>
          <a:p xmlns:a="http://schemas.openxmlformats.org/drawingml/2006/main">
            <a:r>
              <a:rPr lang="en-US" sz="2000">
                <a:solidFill>
                  <a:srgbClr val="1A1C1C"/>
                </a:solidFill>
              </a:rPr>
              <a:t/>
            </a:r>
          </a:p>
          <a:p xmlns:a="http://schemas.openxmlformats.org/drawingml/2006/main">
            <a:r>
              <a:rPr lang="en-US" sz="2000">
                <a:solidFill>
                  <a:srgbClr val="1A1C1C"/>
                </a:solidFill>
              </a:rPr>
              <a:t>How does it solve the problem?</a:t>
            </a:r>
          </a:p>
          <a:p xmlns:a="http://schemas.openxmlformats.org/drawingml/2006/main">
            <a:r>
              <a:rPr lang="en-US" sz="2000">
                <a:solidFill>
                  <a:srgbClr val="1A1C1C"/>
                </a:solidFill>
              </a:rPr>
              <a:t>It makes reliable payers visible to lenders and tells applicants what would help, instead of a bare refusal.</a:t>
            </a:r>
          </a:p>
          <a:p xmlns:a="http://schemas.openxmlformats.org/drawingml/2006/main">
            <a:r>
              <a:rPr lang="en-US" sz="2000">
                <a:solidFill>
                  <a:srgbClr val="1A1C1C"/>
                </a:solidFill>
              </a:rPr>
              <a:t/>
            </a:r>
          </a:p>
          <a:p xmlns:a="http://schemas.openxmlformats.org/drawingml/2006/main">
            <a:r>
              <a:rPr lang="en-US" sz="2000">
                <a:solidFill>
                  <a:srgbClr val="1A1C1C"/>
                </a:solidFill>
              </a:rPr>
              <a:t>USP</a:t>
            </a:r>
          </a:p>
          <a:p xmlns:a="http://schemas.openxmlformats.org/drawingml/2006/main">
            <a:r>
              <a:rPr lang="en-US" sz="2000">
                <a:solidFill>
                  <a:srgbClr val="1A1C1C"/>
                </a:solidFill>
              </a:rPr>
              <a:t>Every point change shown to the user is measured by re-scoring their profile. Gemini only phrases results and never computes a number.</a:t>
            </a:r>
          </a:p>
        </p:txBody>
      </p:sp>
    </p:spTree>
  </p:cSld>
</p:sld>
</file>

<file path=ppt/slides/slide4.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06" name="Title"/>
          <p:cNvSpPr txBox="1"/>
          <p:nvPr/>
        </p:nvSpPr>
        <p:spPr>
          <a:xfrm xmlns:a="http://schemas.openxmlformats.org/drawingml/2006/main">
            <a:off x="540000" y="360000"/>
            <a:ext cx="1116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04943"/>
                </a:solidFill>
              </a:rPr>
              <a:t>List of features offered by the solution</a:t>
            </a:r>
          </a:p>
        </p:txBody>
      </p:sp>
      <p:sp>
        <p:nvSpPr>
          <p:cNvPr id="100007" name="Body"/>
          <p:cNvSpPr txBox="1"/>
          <p:nvPr/>
        </p:nvSpPr>
        <p:spPr>
          <a:xfrm xmlns:a="http://schemas.openxmlformats.org/drawingml/2006/main">
            <a:off x="540000" y="1548000"/>
            <a:ext cx="10980000" cy="46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100">
                <a:solidFill>
                  <a:srgbClr val="1A1C1C"/>
                </a:solidFill>
              </a:rPr>
              <a:t>• Document upload with extraction and a review step showing flags</a:t>
            </a:r>
          </a:p>
          <a:p xmlns:a="http://schemas.openxmlformats.org/drawingml/2006/main">
            <a:r>
              <a:rPr lang="en-US" sz="2100">
                <a:solidFill>
                  <a:srgbClr val="1A1C1C"/>
                </a:solidFill>
              </a:rPr>
              <a:t>• Credit-readiness band (300-850 scale) with a confidence note</a:t>
            </a:r>
          </a:p>
          <a:p xmlns:a="http://schemas.openxmlformats.org/drawingml/2006/main">
            <a:r>
              <a:rPr lang="en-US" sz="2100">
                <a:solidFill>
                  <a:srgbClr val="1A1C1C"/>
                </a:solidFill>
              </a:rPr>
              <a:t>• Plain-language explanation of the signals the model relies on</a:t>
            </a:r>
          </a:p>
          <a:p xmlns:a="http://schemas.openxmlformats.org/drawingml/2006/main">
            <a:r>
              <a:rPr lang="en-US" sz="2100">
                <a:solidFill>
                  <a:srgbClr val="1A1C1C"/>
                </a:solidFill>
              </a:rPr>
              <a:t>• Improvement plan with re-scored point estimates per action</a:t>
            </a:r>
          </a:p>
          <a:p xmlns:a="http://schemas.openxmlformats.org/drawingml/2006/main">
            <a:r>
              <a:rPr lang="en-US" sz="2100">
                <a:solidFill>
                  <a:srgbClr val="1A1C1C"/>
                </a:solidFill>
              </a:rPr>
              <a:t>• Loan options grounded in cited policy passages (a lender decides)</a:t>
            </a:r>
          </a:p>
          <a:p xmlns:a="http://schemas.openxmlformats.org/drawingml/2006/main">
            <a:r>
              <a:rPr lang="en-US" sz="2100">
                <a:solidFill>
                  <a:srgbClr val="1A1C1C"/>
                </a:solidFill>
              </a:rPr>
              <a:t>• Advisor chat for what-if and eligibility questions</a:t>
            </a:r>
          </a:p>
          <a:p xmlns:a="http://schemas.openxmlformats.org/drawingml/2006/main">
            <a:r>
              <a:rPr lang="en-US" sz="2100">
                <a:solidFill>
                  <a:srgbClr val="1A1C1C"/>
                </a:solidFill>
              </a:rPr>
              <a:t>• Score history and an audit log of every score</a:t>
            </a:r>
          </a:p>
          <a:p xmlns:a="http://schemas.openxmlformats.org/drawingml/2006/main">
            <a:r>
              <a:rPr lang="en-US" sz="2100">
                <a:solidFill>
                  <a:srgbClr val="1A1C1C"/>
                </a:solidFill>
              </a:rPr>
              <a:t>• English, Hindi and Marathi switcher (local mode uses a fixed translation table; wording not yet native-reviewed)</a:t>
            </a:r>
          </a:p>
        </p:txBody>
      </p:sp>
    </p:spTree>
  </p:cSld>
</p:sld>
</file>

<file path=ppt/slides/slide5.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08" name="Title"/>
          <p:cNvSpPr txBox="1"/>
          <p:nvPr/>
        </p:nvSpPr>
        <p:spPr>
          <a:xfrm xmlns:a="http://schemas.openxmlformats.org/drawingml/2006/main">
            <a:off x="540000" y="288000"/>
            <a:ext cx="11160000" cy="79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04943"/>
                </a:solidFill>
              </a:rPr>
              <a:t>Process flow: Priya's journey</a:t>
            </a:r>
          </a:p>
        </p:txBody>
      </p:sp>
      <p:sp>
        <p:nvSpPr>
          <p:cNvPr id="100009" name="S1"/>
          <p:cNvSpPr txBox="1"/>
          <p:nvPr/>
        </p:nvSpPr>
        <p:spPr>
          <a:xfrm xmlns:a="http://schemas.openxmlformats.org/drawingml/2006/main">
            <a:off x="360000" y="1800000"/>
            <a:ext cx="1800000" cy="1260000"/>
          </a:xfrm>
          <a:prstGeom xmlns:a="http://schemas.openxmlformats.org/drawingml/2006/main" prst="rect">
            <a:avLst/>
          </a:prstGeom>
          <a:solidFill xmlns:a="http://schemas.openxmlformats.org/drawingml/2006/main">
            <a:srgbClr val="004943"/>
          </a:solidFill>
        </p:spPr>
        <p:txBody>
          <a:bodyPr xmlns:a="http://schemas.openxmlformats.org/drawingml/2006/main"/>
          <a:lstStyle xmlns:a="http://schemas.openxmlformats.org/drawingml/2006/main"/>
          <a:p xmlns:a="http://schemas.openxmlformats.org/drawingml/2006/main">
            <a:pPr algn="ctr"/>
            <a:r>
              <a:rPr lang="en-US" sz="1400">
                <a:solidFill>
                  <a:srgbClr val="FFFFFF"/>
                </a:solidFill>
              </a:rPr>
              <a:t>1. Consent</a:t>
            </a:r>
          </a:p>
          <a:p xmlns:a="http://schemas.openxmlformats.org/drawingml/2006/main">
            <a:pPr algn="ctr"/>
            <a:r>
              <a:rPr lang="en-US" sz="1400">
                <a:solidFill>
                  <a:srgbClr val="FFFFFF"/>
                </a:solidFill>
              </a:rPr>
              <a:t>Choose what to link</a:t>
            </a:r>
          </a:p>
        </p:txBody>
      </p:sp>
      <p:sp>
        <p:nvSpPr>
          <p:cNvPr id="100010" name="S2"/>
          <p:cNvSpPr txBox="1"/>
          <p:nvPr/>
        </p:nvSpPr>
        <p:spPr>
          <a:xfrm xmlns:a="http://schemas.openxmlformats.org/drawingml/2006/main">
            <a:off x="2484000" y="1800000"/>
            <a:ext cx="1800000" cy="1260000"/>
          </a:xfrm>
          <a:prstGeom xmlns:a="http://schemas.openxmlformats.org/drawingml/2006/main" prst="rect">
            <a:avLst/>
          </a:prstGeom>
          <a:solidFill xmlns:a="http://schemas.openxmlformats.org/drawingml/2006/main">
            <a:srgbClr val="004943"/>
          </a:solidFill>
        </p:spPr>
        <p:txBody>
          <a:bodyPr xmlns:a="http://schemas.openxmlformats.org/drawingml/2006/main"/>
          <a:lstStyle xmlns:a="http://schemas.openxmlformats.org/drawingml/2006/main"/>
          <a:p xmlns:a="http://schemas.openxmlformats.org/drawingml/2006/main">
            <a:pPr algn="ctr"/>
            <a:r>
              <a:rPr lang="en-US" sz="1400">
                <a:solidFill>
                  <a:srgbClr val="FFFFFF"/>
                </a:solidFill>
              </a:rPr>
              <a:t>2. Upload</a:t>
            </a:r>
          </a:p>
          <a:p xmlns:a="http://schemas.openxmlformats.org/drawingml/2006/main">
            <a:pPr algn="ctr"/>
            <a:r>
              <a:rPr lang="en-US" sz="1400">
                <a:solidFill>
                  <a:srgbClr val="FFFFFF"/>
                </a:solidFill>
              </a:rPr>
              <a:t>Bill, rent, UPI</a:t>
            </a:r>
          </a:p>
        </p:txBody>
      </p:sp>
      <p:sp>
        <p:nvSpPr>
          <p:cNvPr id="100011" name="S3"/>
          <p:cNvSpPr txBox="1"/>
          <p:nvPr/>
        </p:nvSpPr>
        <p:spPr>
          <a:xfrm xmlns:a="http://schemas.openxmlformats.org/drawingml/2006/main">
            <a:off x="4608000" y="1800000"/>
            <a:ext cx="1800000" cy="1260000"/>
          </a:xfrm>
          <a:prstGeom xmlns:a="http://schemas.openxmlformats.org/drawingml/2006/main" prst="rect">
            <a:avLst/>
          </a:prstGeom>
          <a:solidFill xmlns:a="http://schemas.openxmlformats.org/drawingml/2006/main">
            <a:srgbClr val="004943"/>
          </a:solidFill>
        </p:spPr>
        <p:txBody>
          <a:bodyPr xmlns:a="http://schemas.openxmlformats.org/drawingml/2006/main"/>
          <a:lstStyle xmlns:a="http://schemas.openxmlformats.org/drawingml/2006/main"/>
          <a:p xmlns:a="http://schemas.openxmlformats.org/drawingml/2006/main">
            <a:pPr algn="ctr"/>
            <a:r>
              <a:rPr lang="en-US" sz="1400">
                <a:solidFill>
                  <a:srgbClr val="FFFFFF"/>
                </a:solidFill>
              </a:rPr>
              <a:t>3. Check</a:t>
            </a:r>
          </a:p>
          <a:p xmlns:a="http://schemas.openxmlformats.org/drawingml/2006/main">
            <a:pPr algn="ctr"/>
            <a:r>
              <a:rPr lang="en-US" sz="1400">
                <a:solidFill>
                  <a:srgbClr val="FFFFFF"/>
                </a:solidFill>
              </a:rPr>
              <a:t>Extracted fields and flags</a:t>
            </a:r>
          </a:p>
        </p:txBody>
      </p:sp>
      <p:sp>
        <p:nvSpPr>
          <p:cNvPr id="100012" name="S4"/>
          <p:cNvSpPr txBox="1"/>
          <p:nvPr/>
        </p:nvSpPr>
        <p:spPr>
          <a:xfrm xmlns:a="http://schemas.openxmlformats.org/drawingml/2006/main">
            <a:off x="6732000" y="1800000"/>
            <a:ext cx="1800000" cy="1260000"/>
          </a:xfrm>
          <a:prstGeom xmlns:a="http://schemas.openxmlformats.org/drawingml/2006/main" prst="rect">
            <a:avLst/>
          </a:prstGeom>
          <a:solidFill xmlns:a="http://schemas.openxmlformats.org/drawingml/2006/main">
            <a:srgbClr val="004943"/>
          </a:solidFill>
        </p:spPr>
        <p:txBody>
          <a:bodyPr xmlns:a="http://schemas.openxmlformats.org/drawingml/2006/main"/>
          <a:lstStyle xmlns:a="http://schemas.openxmlformats.org/drawingml/2006/main"/>
          <a:p xmlns:a="http://schemas.openxmlformats.org/drawingml/2006/main">
            <a:pPr algn="ctr"/>
            <a:r>
              <a:rPr lang="en-US" sz="1400">
                <a:solidFill>
                  <a:srgbClr val="FFFFFF"/>
                </a:solidFill>
              </a:rPr>
              <a:t>4. Score</a:t>
            </a:r>
          </a:p>
          <a:p xmlns:a="http://schemas.openxmlformats.org/drawingml/2006/main">
            <a:pPr algn="ctr"/>
            <a:r>
              <a:rPr lang="en-US" sz="1400">
                <a:solidFill>
                  <a:srgbClr val="FFFFFF"/>
                </a:solidFill>
              </a:rPr>
              <a:t>Band, signals, confidence</a:t>
            </a:r>
          </a:p>
        </p:txBody>
      </p:sp>
      <p:sp>
        <p:nvSpPr>
          <p:cNvPr id="100013" name="S5"/>
          <p:cNvSpPr txBox="1"/>
          <p:nvPr/>
        </p:nvSpPr>
        <p:spPr>
          <a:xfrm xmlns:a="http://schemas.openxmlformats.org/drawingml/2006/main">
            <a:off x="8856000" y="1800000"/>
            <a:ext cx="1800000" cy="1260000"/>
          </a:xfrm>
          <a:prstGeom xmlns:a="http://schemas.openxmlformats.org/drawingml/2006/main" prst="rect">
            <a:avLst/>
          </a:prstGeom>
          <a:solidFill xmlns:a="http://schemas.openxmlformats.org/drawingml/2006/main">
            <a:srgbClr val="0E625B"/>
          </a:solidFill>
        </p:spPr>
        <p:txBody>
          <a:bodyPr xmlns:a="http://schemas.openxmlformats.org/drawingml/2006/main"/>
          <a:lstStyle xmlns:a="http://schemas.openxmlformats.org/drawingml/2006/main"/>
          <a:p xmlns:a="http://schemas.openxmlformats.org/drawingml/2006/main">
            <a:pPr algn="ctr"/>
            <a:r>
              <a:rPr lang="en-US" sz="1400">
                <a:solidFill>
                  <a:srgbClr val="FFFFFF"/>
                </a:solidFill>
              </a:rPr>
              <a:t>5. Improve</a:t>
            </a:r>
          </a:p>
          <a:p xmlns:a="http://schemas.openxmlformats.org/drawingml/2006/main">
            <a:pPr algn="ctr"/>
            <a:r>
              <a:rPr lang="en-US" sz="1400">
                <a:solidFill>
                  <a:srgbClr val="FFFFFF"/>
                </a:solidFill>
              </a:rPr>
              <a:t>Re-scored next steps</a:t>
            </a:r>
          </a:p>
        </p:txBody>
      </p:sp>
      <p:sp>
        <p:nvSpPr>
          <p:cNvPr id="100014" name="Branch"/>
          <p:cNvSpPr txBox="1"/>
          <p:nvPr/>
        </p:nvSpPr>
        <p:spPr>
          <a:xfrm xmlns:a="http://schemas.openxmlformats.org/drawingml/2006/main">
            <a:off x="360000" y="3780000"/>
            <a:ext cx="10440000" cy="720000"/>
          </a:xfrm>
          <a:prstGeom xmlns:a="http://schemas.openxmlformats.org/drawingml/2006/main" prst="rect">
            <a:avLst/>
          </a:prstGeom>
          <a:solidFill xmlns:a="http://schemas.openxmlformats.org/drawingml/2006/main">
            <a:srgbClr val="EEEEED"/>
          </a:solidFill>
        </p:spPr>
        <p:txBody>
          <a:bodyPr xmlns:a="http://schemas.openxmlformats.org/drawingml/2006/main"/>
          <a:lstStyle xmlns:a="http://schemas.openxmlformats.org/drawingml/2006/main"/>
          <a:p xmlns:a="http://schemas.openxmlformats.org/drawingml/2006/main">
            <a:pPr algn="ctr"/>
            <a:r>
              <a:rPr lang="en-US" sz="1800">
                <a:solidFill>
                  <a:srgbClr val="1A1C1C"/>
                </a:solidFill>
              </a:rPr>
              <a:t>From the score screen: Loan options (cited policy passages)  |  Advisor chat  |  Score history  |  Audit log</a:t>
            </a:r>
          </a:p>
        </p:txBody>
      </p:sp>
      <p:sp>
        <p:nvSpPr>
          <p:cNvPr id="100016" name="Loop"/>
          <p:cNvSpPr txBox="1"/>
          <p:nvPr/>
        </p:nvSpPr>
        <p:spPr>
          <a:xfrm xmlns:a="http://schemas.openxmlformats.org/drawingml/2006/main">
            <a:off x="360000" y="4968000"/>
            <a:ext cx="1044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57606A"/>
                </a:solidFill>
              </a:rPr>
              <a:t>Add more documents from the plan and the loop repeats: the score updates and the history records it.</a:t>
            </a:r>
          </a:p>
        </p:txBody>
      </p:sp>
      <p:sp>
        <p:nvSpPr>
          <p:cNvPr id="100048" name="A1"/>
          <p:cNvSpPr txBox="1"/>
          <p:nvPr/>
        </p:nvSpPr>
        <p:spPr>
          <a:xfrm>
            <a:off x="2160000" y="2124000"/>
            <a:ext cx="324000" cy="576000"/>
          </a:xfrm>
          <a:prstGeom prst="rect">
            <a:avLst/>
          </a:prstGeom>
          <a:noFill/>
        </p:spPr>
        <p:txBody>
          <a:bodyPr/>
          <a:lstStyle/>
          <a:p>
            <a:pPr algn="ctr"/>
            <a:r>
              <a:rPr lang="en-US" sz="2400" b="1">
                <a:solidFill>
                  <a:srgbClr val="855300"/>
                </a:solidFill>
              </a:rPr>
              <a:t>→</a:t>
            </a:r>
          </a:p>
        </p:txBody>
      </p:sp>
      <p:sp>
        <p:nvSpPr>
          <p:cNvPr id="100049" name="A2"/>
          <p:cNvSpPr txBox="1"/>
          <p:nvPr/>
        </p:nvSpPr>
        <p:spPr>
          <a:xfrm>
            <a:off x="4284000" y="2124000"/>
            <a:ext cx="324000" cy="576000"/>
          </a:xfrm>
          <a:prstGeom prst="rect">
            <a:avLst/>
          </a:prstGeom>
          <a:noFill/>
        </p:spPr>
        <p:txBody>
          <a:bodyPr/>
          <a:lstStyle/>
          <a:p>
            <a:pPr algn="ctr"/>
            <a:r>
              <a:rPr lang="en-US" sz="2400" b="1">
                <a:solidFill>
                  <a:srgbClr val="855300"/>
                </a:solidFill>
              </a:rPr>
              <a:t>→</a:t>
            </a:r>
          </a:p>
        </p:txBody>
      </p:sp>
      <p:sp>
        <p:nvSpPr>
          <p:cNvPr id="100050" name="A3"/>
          <p:cNvSpPr txBox="1"/>
          <p:nvPr/>
        </p:nvSpPr>
        <p:spPr>
          <a:xfrm>
            <a:off x="6408000" y="2124000"/>
            <a:ext cx="324000" cy="576000"/>
          </a:xfrm>
          <a:prstGeom prst="rect">
            <a:avLst/>
          </a:prstGeom>
          <a:noFill/>
        </p:spPr>
        <p:txBody>
          <a:bodyPr/>
          <a:lstStyle/>
          <a:p>
            <a:pPr algn="ctr"/>
            <a:r>
              <a:rPr lang="en-US" sz="2400" b="1">
                <a:solidFill>
                  <a:srgbClr val="855300"/>
                </a:solidFill>
              </a:rPr>
              <a:t>→</a:t>
            </a:r>
          </a:p>
        </p:txBody>
      </p:sp>
      <p:sp>
        <p:nvSpPr>
          <p:cNvPr id="100051" name="A4"/>
          <p:cNvSpPr txBox="1"/>
          <p:nvPr/>
        </p:nvSpPr>
        <p:spPr>
          <a:xfrm>
            <a:off x="8532000" y="2124000"/>
            <a:ext cx="324000" cy="576000"/>
          </a:xfrm>
          <a:prstGeom prst="rect">
            <a:avLst/>
          </a:prstGeom>
          <a:noFill/>
        </p:spPr>
        <p:txBody>
          <a:bodyPr/>
          <a:lstStyle/>
          <a:p>
            <a:pPr algn="ctr"/>
            <a:r>
              <a:rPr lang="en-US" sz="2400" b="1">
                <a:solidFill>
                  <a:srgbClr val="855300"/>
                </a:solidFill>
              </a:rPr>
              <a:t>→</a:t>
            </a:r>
          </a:p>
        </p:txBody>
      </p:sp>
    </p:spTree>
  </p:cSld>
</p:sld>
</file>

<file path=ppt/slides/slide6.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17" name="Title"/>
          <p:cNvSpPr txBox="1"/>
          <p:nvPr/>
        </p:nvSpPr>
        <p:spPr>
          <a:xfrm xmlns:a="http://schemas.openxmlformats.org/drawingml/2006/main">
            <a:off x="540000" y="216000"/>
            <a:ext cx="1116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04943"/>
                </a:solidFill>
              </a:rPr>
              <a:t>Architecture diagram</a:t>
            </a:r>
          </a:p>
        </p:txBody>
      </p:sp>
      <p:sp>
        <p:nvSpPr>
          <p:cNvPr id="100018" name="L1"/>
          <p:cNvSpPr txBox="1"/>
          <p:nvPr/>
        </p:nvSpPr>
        <p:spPr>
          <a:xfrm xmlns:a="http://schemas.openxmlformats.org/drawingml/2006/main">
            <a:off x="360000" y="1080000"/>
            <a:ext cx="11160000" cy="576000"/>
          </a:xfrm>
          <a:prstGeom xmlns:a="http://schemas.openxmlformats.org/drawingml/2006/main" prst="rect">
            <a:avLst/>
          </a:prstGeom>
          <a:solidFill xmlns:a="http://schemas.openxmlformats.org/drawingml/2006/main">
            <a:srgbClr val="004943"/>
          </a:solidFill>
        </p:spPr>
        <p:txBody>
          <a:bodyPr xmlns:a="http://schemas.openxmlformats.org/drawingml/2006/main"/>
          <a:lstStyle xmlns:a="http://schemas.openxmlformats.org/drawingml/2006/main"/>
          <a:p xmlns:a="http://schemas.openxmlformats.org/drawingml/2006/main">
            <a:pPr algn="ctr"/>
            <a:r>
              <a:rPr lang="en-US" sz="1600">
                <a:solidFill>
                  <a:srgbClr val="FFFFFF"/>
                </a:solidFill>
              </a:rPr>
              <a:t>Client: Stitch-designed web app (served by Cloud Run)</a:t>
            </a:r>
          </a:p>
        </p:txBody>
      </p:sp>
      <p:sp>
        <p:nvSpPr>
          <p:cNvPr id="100019" name="L2"/>
          <p:cNvSpPr txBox="1"/>
          <p:nvPr/>
        </p:nvSpPr>
        <p:spPr>
          <a:xfrm xmlns:a="http://schemas.openxmlformats.org/drawingml/2006/main">
            <a:off x="360000" y="1836000"/>
            <a:ext cx="11160000" cy="576000"/>
          </a:xfrm>
          <a:prstGeom xmlns:a="http://schemas.openxmlformats.org/drawingml/2006/main" prst="rect">
            <a:avLst/>
          </a:prstGeom>
          <a:solidFill xmlns:a="http://schemas.openxmlformats.org/drawingml/2006/main">
            <a:srgbClr val="0E625B"/>
          </a:solidFill>
        </p:spPr>
        <p:txBody>
          <a:bodyPr xmlns:a="http://schemas.openxmlformats.org/drawingml/2006/main"/>
          <a:lstStyle xmlns:a="http://schemas.openxmlformats.org/drawingml/2006/main"/>
          <a:p xmlns:a="http://schemas.openxmlformats.org/drawingml/2006/main">
            <a:pPr algn="ctr"/>
            <a:r>
              <a:rPr lang="en-US" sz="1600">
                <a:solidFill>
                  <a:srgbClr val="FFFFFF"/>
                </a:solidFill>
              </a:rPr>
              <a:t>API: FastAPI on Cloud Run (9 endpoints)</a:t>
            </a:r>
          </a:p>
        </p:txBody>
      </p:sp>
      <p:sp>
        <p:nvSpPr>
          <p:cNvPr id="100020" name="L3a"/>
          <p:cNvSpPr txBox="1"/>
          <p:nvPr/>
        </p:nvSpPr>
        <p:spPr>
          <a:xfrm xmlns:a="http://schemas.openxmlformats.org/drawingml/2006/main">
            <a:off x="360000" y="2628000"/>
            <a:ext cx="2664000" cy="864000"/>
          </a:xfrm>
          <a:prstGeom xmlns:a="http://schemas.openxmlformats.org/drawingml/2006/main" prst="rect">
            <a:avLst/>
          </a:prstGeom>
          <a:solidFill xmlns:a="http://schemas.openxmlformats.org/drawingml/2006/main">
            <a:srgbClr val="A7F0E6"/>
          </a:solidFill>
        </p:spPr>
        <p:txBody>
          <a:bodyPr xmlns:a="http://schemas.openxmlformats.org/drawingml/2006/main"/>
          <a:lstStyle xmlns:a="http://schemas.openxmlformats.org/drawingml/2006/main"/>
          <a:p xmlns:a="http://schemas.openxmlformats.org/drawingml/2006/main">
            <a:pPr algn="ctr"/>
            <a:r>
              <a:rPr lang="en-US" sz="1400">
                <a:solidFill>
                  <a:srgbClr val="1A1C1C"/>
                </a:solidFill>
              </a:rPr>
              <a:t>Document AI</a:t>
            </a:r>
          </a:p>
          <a:p xmlns:a="http://schemas.openxmlformats.org/drawingml/2006/main">
            <a:pPr algn="ctr"/>
            <a:r>
              <a:rPr lang="en-US" sz="1400">
                <a:solidFill>
                  <a:srgbClr val="1A1C1C"/>
                </a:solidFill>
              </a:rPr>
              <a:t>reads documents</a:t>
            </a:r>
          </a:p>
        </p:txBody>
      </p:sp>
      <p:sp>
        <p:nvSpPr>
          <p:cNvPr id="100021" name="L3b"/>
          <p:cNvSpPr txBox="1"/>
          <p:nvPr/>
        </p:nvSpPr>
        <p:spPr>
          <a:xfrm xmlns:a="http://schemas.openxmlformats.org/drawingml/2006/main">
            <a:off x="3204000" y="2628000"/>
            <a:ext cx="2664000" cy="864000"/>
          </a:xfrm>
          <a:prstGeom xmlns:a="http://schemas.openxmlformats.org/drawingml/2006/main" prst="rect">
            <a:avLst/>
          </a:prstGeom>
          <a:solidFill xmlns:a="http://schemas.openxmlformats.org/drawingml/2006/main">
            <a:srgbClr val="A7F0E6"/>
          </a:solidFill>
        </p:spPr>
        <p:txBody>
          <a:bodyPr xmlns:a="http://schemas.openxmlformats.org/drawingml/2006/main"/>
          <a:lstStyle xmlns:a="http://schemas.openxmlformats.org/drawingml/2006/main"/>
          <a:p xmlns:a="http://schemas.openxmlformats.org/drawingml/2006/main">
            <a:pPr algn="ctr"/>
            <a:r>
              <a:rPr lang="en-US" sz="1400">
                <a:solidFill>
                  <a:srgbClr val="1A1C1C"/>
                </a:solidFill>
              </a:rPr>
              <a:t>Pub/Sub</a:t>
            </a:r>
          </a:p>
          <a:p xmlns:a="http://schemas.openxmlformats.org/drawingml/2006/main">
            <a:pPr algn="ctr"/>
            <a:r>
              <a:rPr lang="en-US" sz="1400">
                <a:solidFill>
                  <a:srgbClr val="1A1C1C"/>
                </a:solidFill>
              </a:rPr>
              <a:t>score events</a:t>
            </a:r>
          </a:p>
        </p:txBody>
      </p:sp>
      <p:sp>
        <p:nvSpPr>
          <p:cNvPr id="100022" name="L3c"/>
          <p:cNvSpPr txBox="1"/>
          <p:nvPr/>
        </p:nvSpPr>
        <p:spPr>
          <a:xfrm xmlns:a="http://schemas.openxmlformats.org/drawingml/2006/main">
            <a:off x="6048000" y="2628000"/>
            <a:ext cx="2664000" cy="864000"/>
          </a:xfrm>
          <a:prstGeom xmlns:a="http://schemas.openxmlformats.org/drawingml/2006/main" prst="rect">
            <a:avLst/>
          </a:prstGeom>
          <a:solidFill xmlns:a="http://schemas.openxmlformats.org/drawingml/2006/main">
            <a:srgbClr val="A7F0E6"/>
          </a:solidFill>
        </p:spPr>
        <p:txBody>
          <a:bodyPr xmlns:a="http://schemas.openxmlformats.org/drawingml/2006/main"/>
          <a:lstStyle xmlns:a="http://schemas.openxmlformats.org/drawingml/2006/main"/>
          <a:p xmlns:a="http://schemas.openxmlformats.org/drawingml/2006/main">
            <a:pPr algn="ctr"/>
            <a:r>
              <a:rPr lang="en-US" sz="1400">
                <a:solidFill>
                  <a:srgbClr val="1A1C1C"/>
                </a:solidFill>
              </a:rPr>
              <a:t>BigQuery</a:t>
            </a:r>
          </a:p>
          <a:p xmlns:a="http://schemas.openxmlformats.org/drawingml/2006/main">
            <a:pPr algn="ctr"/>
            <a:r>
              <a:rPr lang="en-US" sz="1400">
                <a:solidFill>
                  <a:srgbClr val="1A1C1C"/>
                </a:solidFill>
              </a:rPr>
              <a:t>feature SQL and store</a:t>
            </a:r>
          </a:p>
        </p:txBody>
      </p:sp>
      <p:sp>
        <p:nvSpPr>
          <p:cNvPr id="100023" name="L3d"/>
          <p:cNvSpPr txBox="1"/>
          <p:nvPr/>
        </p:nvSpPr>
        <p:spPr>
          <a:xfrm xmlns:a="http://schemas.openxmlformats.org/drawingml/2006/main">
            <a:off x="8892000" y="2628000"/>
            <a:ext cx="2628000" cy="864000"/>
          </a:xfrm>
          <a:prstGeom xmlns:a="http://schemas.openxmlformats.org/drawingml/2006/main" prst="rect">
            <a:avLst/>
          </a:prstGeom>
          <a:solidFill xmlns:a="http://schemas.openxmlformats.org/drawingml/2006/main">
            <a:srgbClr val="A7F0E6"/>
          </a:solidFill>
        </p:spPr>
        <p:txBody>
          <a:bodyPr xmlns:a="http://schemas.openxmlformats.org/drawingml/2006/main"/>
          <a:lstStyle xmlns:a="http://schemas.openxmlformats.org/drawingml/2006/main"/>
          <a:p xmlns:a="http://schemas.openxmlformats.org/drawingml/2006/main">
            <a:pPr algn="ctr"/>
            <a:r>
              <a:rPr lang="en-US" sz="1400">
                <a:solidFill>
                  <a:srgbClr val="1A1C1C"/>
                </a:solidFill>
              </a:rPr>
              <a:t>Vertex AI</a:t>
            </a:r>
          </a:p>
          <a:p xmlns:a="http://schemas.openxmlformats.org/drawingml/2006/main">
            <a:pPr algn="ctr"/>
            <a:r>
              <a:rPr lang="en-US" sz="1400">
                <a:solidFill>
                  <a:srgbClr val="1A1C1C"/>
                </a:solidFill>
              </a:rPr>
              <a:t>score and what-if re-score</a:t>
            </a:r>
          </a:p>
        </p:txBody>
      </p:sp>
      <p:sp>
        <p:nvSpPr>
          <p:cNvPr id="100024" name="L4a"/>
          <p:cNvSpPr txBox="1"/>
          <p:nvPr/>
        </p:nvSpPr>
        <p:spPr>
          <a:xfrm xmlns:a="http://schemas.openxmlformats.org/drawingml/2006/main">
            <a:off x="360000" y="3672000"/>
            <a:ext cx="3672000" cy="1080000"/>
          </a:xfrm>
          <a:prstGeom xmlns:a="http://schemas.openxmlformats.org/drawingml/2006/main" prst="rect">
            <a:avLst/>
          </a:prstGeom>
          <a:solidFill xmlns:a="http://schemas.openxmlformats.org/drawingml/2006/main">
            <a:srgbClr val="FFDDB8"/>
          </a:solidFill>
        </p:spPr>
        <p:txBody>
          <a:bodyPr xmlns:a="http://schemas.openxmlformats.org/drawingml/2006/main"/>
          <a:lstStyle xmlns:a="http://schemas.openxmlformats.org/drawingml/2006/main"/>
          <a:p xmlns:a="http://schemas.openxmlformats.org/drawingml/2006/main">
            <a:pPr algn="ctr"/>
            <a:r>
              <a:rPr lang="en-US" sz="1300">
                <a:solidFill>
                  <a:srgbClr val="1A1C1C"/>
                </a:solidFill>
              </a:rPr>
              <a:t>Gemini on Vertex AI</a:t>
            </a:r>
          </a:p>
          <a:p xmlns:a="http://schemas.openxmlformats.org/drawingml/2006/main">
            <a:pPr algn="ctr"/>
            <a:r>
              <a:rPr lang="en-US" sz="1300">
                <a:solidFill>
                  <a:srgbClr val="1A1C1C"/>
                </a:solidFill>
              </a:rPr>
              <a:t>phrases explanations, plan, chat.</a:t>
            </a:r>
          </a:p>
          <a:p xmlns:a="http://schemas.openxmlformats.org/drawingml/2006/main">
            <a:pPr algn="ctr"/>
            <a:r>
              <a:rPr lang="en-US" sz="1300">
                <a:solidFill>
                  <a:srgbClr val="1A1C1C"/>
                </a:solidFill>
              </a:rPr>
              <a:t>Numbers come only from Vertex AI.</a:t>
            </a:r>
          </a:p>
        </p:txBody>
      </p:sp>
      <p:sp>
        <p:nvSpPr>
          <p:cNvPr id="100025" name="L4b"/>
          <p:cNvSpPr txBox="1"/>
          <p:nvPr/>
        </p:nvSpPr>
        <p:spPr>
          <a:xfrm xmlns:a="http://schemas.openxmlformats.org/drawingml/2006/main">
            <a:off x="4212000" y="3672000"/>
            <a:ext cx="3672000" cy="1080000"/>
          </a:xfrm>
          <a:prstGeom xmlns:a="http://schemas.openxmlformats.org/drawingml/2006/main" prst="rect">
            <a:avLst/>
          </a:prstGeom>
          <a:solidFill xmlns:a="http://schemas.openxmlformats.org/drawingml/2006/main">
            <a:srgbClr val="FFDDB8"/>
          </a:solidFill>
        </p:spPr>
        <p:txBody>
          <a:bodyPr xmlns:a="http://schemas.openxmlformats.org/drawingml/2006/main"/>
          <a:lstStyle xmlns:a="http://schemas.openxmlformats.org/drawingml/2006/main"/>
          <a:p xmlns:a="http://schemas.openxmlformats.org/drawingml/2006/main">
            <a:pPr algn="ctr"/>
            <a:r>
              <a:rPr lang="en-US" sz="1300">
                <a:solidFill>
                  <a:srgbClr val="1A1C1C"/>
                </a:solidFill>
              </a:rPr>
              <a:t>Vertex AI Search</a:t>
            </a:r>
          </a:p>
          <a:p xmlns:a="http://schemas.openxmlformats.org/drawingml/2006/main">
            <a:pPr algn="ctr"/>
            <a:r>
              <a:rPr lang="en-US" sz="1300">
                <a:solidFill>
                  <a:srgbClr val="1A1C1C"/>
                </a:solidFill>
              </a:rPr>
              <a:t>grounds loan options in policy passages</a:t>
            </a:r>
          </a:p>
        </p:txBody>
      </p:sp>
      <p:sp>
        <p:nvSpPr>
          <p:cNvPr id="100026" name="L4c"/>
          <p:cNvSpPr txBox="1"/>
          <p:nvPr/>
        </p:nvSpPr>
        <p:spPr>
          <a:xfrm xmlns:a="http://schemas.openxmlformats.org/drawingml/2006/main">
            <a:off x="8064000" y="3672000"/>
            <a:ext cx="3456000" cy="1080000"/>
          </a:xfrm>
          <a:prstGeom xmlns:a="http://schemas.openxmlformats.org/drawingml/2006/main" prst="rect">
            <a:avLst/>
          </a:prstGeom>
          <a:solidFill xmlns:a="http://schemas.openxmlformats.org/drawingml/2006/main">
            <a:srgbClr val="FFDDB8"/>
          </a:solidFill>
        </p:spPr>
        <p:txBody>
          <a:bodyPr xmlns:a="http://schemas.openxmlformats.org/drawingml/2006/main"/>
          <a:lstStyle xmlns:a="http://schemas.openxmlformats.org/drawingml/2006/main"/>
          <a:p xmlns:a="http://schemas.openxmlformats.org/drawingml/2006/main">
            <a:pPr algn="ctr"/>
            <a:r>
              <a:rPr lang="en-US" sz="1300">
                <a:solidFill>
                  <a:srgbClr val="1A1C1C"/>
                </a:solidFill>
              </a:rPr>
              <a:t>Cloud SQL / AlloyDB</a:t>
            </a:r>
          </a:p>
          <a:p xmlns:a="http://schemas.openxmlformats.org/drawingml/2006/main">
            <a:pPr algn="ctr"/>
            <a:r>
              <a:rPr lang="en-US" sz="1300">
                <a:solidFill>
                  <a:srgbClr val="1A1C1C"/>
                </a:solidFill>
              </a:rPr>
              <a:t>app state, score history, audit log</a:t>
            </a:r>
          </a:p>
        </p:txBody>
      </p:sp>
      <p:sp>
        <p:nvSpPr>
          <p:cNvPr id="100027" name="L5"/>
          <p:cNvSpPr txBox="1"/>
          <p:nvPr/>
        </p:nvSpPr>
        <p:spPr>
          <a:xfrm xmlns:a="http://schemas.openxmlformats.org/drawingml/2006/main">
            <a:off x="360000" y="4968000"/>
            <a:ext cx="11160000" cy="576000"/>
          </a:xfrm>
          <a:prstGeom xmlns:a="http://schemas.openxmlformats.org/drawingml/2006/main" prst="rect">
            <a:avLst/>
          </a:prstGeom>
          <a:solidFill xmlns:a="http://schemas.openxmlformats.org/drawingml/2006/main">
            <a:srgbClr val="855300"/>
          </a:solidFill>
        </p:spPr>
        <p:txBody>
          <a:bodyPr xmlns:a="http://schemas.openxmlformats.org/drawingml/2006/main"/>
          <a:lstStyle xmlns:a="http://schemas.openxmlformats.org/drawingml/2006/main"/>
          <a:p xmlns:a="http://schemas.openxmlformats.org/drawingml/2006/main">
            <a:pPr algn="ctr"/>
            <a:r>
              <a:rPr lang="en-US" sz="1500">
                <a:solidFill>
                  <a:srgbClr val="FFFFFF"/>
                </a:solidFill>
              </a:rPr>
              <a:t>Compliance review step checks the score explanation, improvement plan and loan options before display (chat is not yet covered)</a:t>
            </a:r>
          </a:p>
        </p:txBody>
      </p:sp>
      <p:sp>
        <p:nvSpPr>
          <p:cNvPr id="100028" name="Note"/>
          <p:cNvSpPr txBox="1"/>
          <p:nvPr/>
        </p:nvSpPr>
        <p:spPr>
          <a:xfrm xmlns:a="http://schemas.openxmlformats.org/drawingml/2006/main">
            <a:off x="360000" y="5760000"/>
            <a:ext cx="1116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B45309"/>
                </a:solidFill>
              </a:rPr>
              <a:t>Local mode replaces each Google service with a labelled stub plus a local model. The Google Cloud code paths are written but not yet run on a live project.</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3" name="Title"/>
          <p:cNvSpPr txBox="1"/>
          <p:nvPr/>
        </p:nvSpPr>
        <p:spPr>
          <a:xfrm xmlns:a="http://schemas.openxmlformats.org/drawingml/2006/main">
            <a:off x="540000" y="180000"/>
            <a:ext cx="1116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004943"/>
                </a:solidFill>
              </a:rPr>
              <a:t>Snapshots of the prototype</a:t>
            </a:r>
          </a:p>
        </p:txBody>
      </p:sp>
      <p:pic>
        <p:nvPicPr>
          <p:cNvPr id="100034" name="Shot1"/>
          <p:cNvPicPr>
            <a:picLocks xmlns:a="http://schemas.openxmlformats.org/drawingml/2006/main" noChangeAspect="1"/>
          </p:cNvPicPr>
          <p:nvPr/>
        </p:nvPicPr>
        <p:blipFill>
          <a:blip xmlns:r="http://schemas.openxmlformats.org/officeDocument/2006/relationships" xmlns:a="http://schemas.openxmlformats.org/drawingml/2006/main" r:embed="Rbabab28d9ca04ac7"/>
          <a:stretch xmlns:a="http://schemas.openxmlformats.org/drawingml/2006/main">
            <a:fillRect/>
          </a:stretch>
        </p:blipFill>
        <p:spPr>
          <a:xfrm xmlns:a="http://schemas.openxmlformats.org/drawingml/2006/main">
            <a:off x="432000" y="936000"/>
            <a:ext cx="2628000" cy="5616000"/>
          </a:xfrm>
          <a:prstGeom xmlns:a="http://schemas.openxmlformats.org/drawingml/2006/main" prst="rect">
            <a:avLst/>
          </a:prstGeom>
        </p:spPr>
      </p:pic>
      <p:pic>
        <p:nvPicPr>
          <p:cNvPr id="100035" name="Shot2"/>
          <p:cNvPicPr>
            <a:picLocks xmlns:a="http://schemas.openxmlformats.org/drawingml/2006/main" noChangeAspect="1"/>
          </p:cNvPicPr>
          <p:nvPr/>
        </p:nvPicPr>
        <p:blipFill>
          <a:blip xmlns:r="http://schemas.openxmlformats.org/officeDocument/2006/relationships" xmlns:a="http://schemas.openxmlformats.org/drawingml/2006/main" r:embed="R577c98a1335543bd"/>
          <a:stretch xmlns:a="http://schemas.openxmlformats.org/drawingml/2006/main">
            <a:fillRect/>
          </a:stretch>
        </p:blipFill>
        <p:spPr>
          <a:xfrm xmlns:a="http://schemas.openxmlformats.org/drawingml/2006/main">
            <a:off x="3420000" y="936000"/>
            <a:ext cx="2628000" cy="5616000"/>
          </a:xfrm>
          <a:prstGeom xmlns:a="http://schemas.openxmlformats.org/drawingml/2006/main" prst="rect">
            <a:avLst/>
          </a:prstGeom>
        </p:spPr>
      </p:pic>
      <p:pic>
        <p:nvPicPr>
          <p:cNvPr id="100036" name="Shot3"/>
          <p:cNvPicPr>
            <a:picLocks xmlns:a="http://schemas.openxmlformats.org/drawingml/2006/main" noChangeAspect="1"/>
          </p:cNvPicPr>
          <p:nvPr/>
        </p:nvPicPr>
        <p:blipFill>
          <a:blip xmlns:r="http://schemas.openxmlformats.org/officeDocument/2006/relationships" xmlns:a="http://schemas.openxmlformats.org/drawingml/2006/main" r:embed="R8f5aa40c78134c53"/>
          <a:stretch xmlns:a="http://schemas.openxmlformats.org/drawingml/2006/main">
            <a:fillRect/>
          </a:stretch>
        </p:blipFill>
        <p:spPr>
          <a:xfrm xmlns:a="http://schemas.openxmlformats.org/drawingml/2006/main">
            <a:off x="6408000" y="936000"/>
            <a:ext cx="2628000" cy="5616000"/>
          </a:xfrm>
          <a:prstGeom xmlns:a="http://schemas.openxmlformats.org/drawingml/2006/main" prst="rect">
            <a:avLst/>
          </a:prstGeom>
        </p:spPr>
      </p:pic>
      <p:pic>
        <p:nvPicPr>
          <p:cNvPr id="100037" name="Shot4"/>
          <p:cNvPicPr>
            <a:picLocks xmlns:a="http://schemas.openxmlformats.org/drawingml/2006/main" noChangeAspect="1"/>
          </p:cNvPicPr>
          <p:nvPr/>
        </p:nvPicPr>
        <p:blipFill>
          <a:blip xmlns:r="http://schemas.openxmlformats.org/officeDocument/2006/relationships" xmlns:a="http://schemas.openxmlformats.org/drawingml/2006/main" r:embed="R1037154d4f514d9f"/>
          <a:stretch xmlns:a="http://schemas.openxmlformats.org/drawingml/2006/main">
            <a:fillRect/>
          </a:stretch>
        </p:blipFill>
        <p:spPr>
          <a:xfrm xmlns:a="http://schemas.openxmlformats.org/drawingml/2006/main">
            <a:off x="9396000" y="936000"/>
            <a:ext cx="2628000" cy="5616000"/>
          </a:xfrm>
          <a:prstGeom xmlns:a="http://schemas.openxmlformats.org/drawingml/2006/main" prst="rect">
            <a:avLst/>
          </a:prstGeom>
        </p:spPr>
      </p:pic>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8" name="Title"/>
          <p:cNvSpPr txBox="1"/>
          <p:nvPr/>
        </p:nvSpPr>
        <p:spPr>
          <a:xfrm xmlns:a="http://schemas.openxmlformats.org/drawingml/2006/main">
            <a:off x="540000" y="360000"/>
            <a:ext cx="11160000" cy="79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04943"/>
                </a:solidFill>
              </a:rPr>
              <a:t>Technologies used</a:t>
            </a:r>
          </a:p>
        </p:txBody>
      </p:sp>
      <p:sp>
        <p:nvSpPr>
          <p:cNvPr id="100039" name="Body"/>
          <p:cNvSpPr txBox="1"/>
          <p:nvPr/>
        </p:nvSpPr>
        <p:spPr>
          <a:xfrm xmlns:a="http://schemas.openxmlformats.org/drawingml/2006/main">
            <a:off x="540000" y="1368000"/>
            <a:ext cx="10980000" cy="48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1A1C1C"/>
                </a:solidFill>
              </a:rPr>
              <a:t>Google Cloud: Gemini on Vertex AI, Vertex AI (scoring and what-if), Vertex AI Search, Document AI, BigQuery, Pub/Sub, Cloud SQL / AlloyDB, Cloud Run</a:t>
            </a:r>
          </a:p>
          <a:p xmlns:a="http://schemas.openxmlformats.org/drawingml/2006/main">
            <a:r>
              <a:rPr lang="en-US" sz="2000">
                <a:solidFill>
                  <a:srgbClr val="1A1C1C"/>
                </a:solidFill>
              </a:rPr>
              <a:t/>
            </a:r>
          </a:p>
          <a:p xmlns:a="http://schemas.openxmlformats.org/drawingml/2006/main">
            <a:r>
              <a:rPr lang="en-US" sz="2000">
                <a:solidFill>
                  <a:srgbClr val="1A1C1C"/>
                </a:solidFill>
              </a:rPr>
              <a:t>Backend: Python, FastAPI, Pydantic, scikit-learn (local baseline model)</a:t>
            </a:r>
          </a:p>
          <a:p xmlns:a="http://schemas.openxmlformats.org/drawingml/2006/main">
            <a:r>
              <a:rPr lang="en-US" sz="2000">
                <a:solidFill>
                  <a:srgbClr val="1A1C1C"/>
                </a:solidFill>
              </a:rPr>
              <a:t/>
            </a:r>
          </a:p>
          <a:p xmlns:a="http://schemas.openxmlformats.org/drawingml/2006/main">
            <a:r>
              <a:rPr lang="en-US" sz="2000">
                <a:solidFill>
                  <a:srgbClr val="1A1C1C"/>
                </a:solidFill>
              </a:rPr>
              <a:t>Frontend: Stitch-generated screens, Tailwind CSS, vanilla JavaScript</a:t>
            </a:r>
          </a:p>
          <a:p xmlns:a="http://schemas.openxmlformats.org/drawingml/2006/main">
            <a:r>
              <a:rPr lang="en-US" sz="2000">
                <a:solidFill>
                  <a:srgbClr val="1A1C1C"/>
                </a:solidFill>
              </a:rPr>
              <a:t/>
            </a:r>
          </a:p>
          <a:p xmlns:a="http://schemas.openxmlformats.org/drawingml/2006/main">
            <a:r>
              <a:rPr lang="en-US" sz="2000">
                <a:solidFill>
                  <a:srgbClr val="1A1C1C"/>
                </a:solidFill>
              </a:rPr>
              <a:t>Testing: pytest (19 API tests), Playwright browser test of the full journey</a:t>
            </a:r>
          </a:p>
          <a:p xmlns:a="http://schemas.openxmlformats.org/drawingml/2006/main">
            <a:r>
              <a:rPr lang="en-US" sz="2000">
                <a:solidFill>
                  <a:srgbClr val="1A1C1C"/>
                </a:solidFill>
              </a:rPr>
              <a:t/>
            </a:r>
          </a:p>
          <a:p xmlns:a="http://schemas.openxmlformats.org/drawingml/2006/main">
            <a:r>
              <a:rPr lang="en-US" sz="2000">
                <a:solidFill>
                  <a:srgbClr val="1A1C1C"/>
                </a:solidFill>
              </a:rPr>
              <a:t>Infra: Dockerfile for Cloud Run, gcloud setup and deploy scripts (written, not yet run against a live project)</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0" name="Title"/>
          <p:cNvSpPr txBox="1"/>
          <p:nvPr/>
        </p:nvSpPr>
        <p:spPr>
          <a:xfrm xmlns:a="http://schemas.openxmlformats.org/drawingml/2006/main">
            <a:off x="540000" y="360000"/>
            <a:ext cx="11160000" cy="79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04943"/>
                </a:solidFill>
              </a:rPr>
              <a:t>Prototype performance / benchmarking</a:t>
            </a:r>
          </a:p>
        </p:txBody>
      </p:sp>
      <p:sp>
        <p:nvSpPr>
          <p:cNvPr id="100041" name="Body"/>
          <p:cNvSpPr txBox="1"/>
          <p:nvPr/>
        </p:nvSpPr>
        <p:spPr>
          <a:xfrm xmlns:a="http://schemas.openxmlformats.org/drawingml/2006/main">
            <a:off x="540000" y="1368000"/>
            <a:ext cx="10980000" cy="36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900">
                <a:solidFill>
                  <a:srgbClr val="1A1C1C"/>
                </a:solidFill>
              </a:rPr>
              <a:t>Measured on a laptop in local mode (stub Gemini, local model), 40 calls each:</a:t>
            </a:r>
          </a:p>
          <a:p xmlns:a="http://schemas.openxmlformats.org/drawingml/2006/main">
            <a:r>
              <a:rPr lang="en-US" sz="1900">
                <a:solidFill>
                  <a:srgbClr val="1A1C1C"/>
                </a:solidFill>
              </a:rPr>
              <a:t>• POST /score: median 4.3 ms, p95 5.4 ms</a:t>
            </a:r>
          </a:p>
          <a:p xmlns:a="http://schemas.openxmlformats.org/drawingml/2006/main">
            <a:r>
              <a:rPr lang="en-US" sz="1900">
                <a:solidFill>
                  <a:srgbClr val="1A1C1C"/>
                </a:solidFill>
              </a:rPr>
              <a:t>• GET /plan: median 23.3 ms, p95 37.3 ms</a:t>
            </a:r>
          </a:p>
          <a:p xmlns:a="http://schemas.openxmlformats.org/drawingml/2006/main">
            <a:r>
              <a:rPr lang="en-US" sz="1900">
                <a:solidFill>
                  <a:srgbClr val="1A1C1C"/>
                </a:solidFill>
              </a:rPr>
              <a:t>• GET /options: median 0.8 ms, p95 1.3 ms</a:t>
            </a:r>
          </a:p>
          <a:p xmlns:a="http://schemas.openxmlformats.org/drawingml/2006/main">
            <a:r>
              <a:rPr lang="en-US" sz="1900">
                <a:solidFill>
                  <a:srgbClr val="1A1C1C"/>
                </a:solidFill>
              </a:rPr>
              <a:t/>
            </a:r>
          </a:p>
          <a:p xmlns:a="http://schemas.openxmlformats.org/drawingml/2006/main">
            <a:r>
              <a:rPr lang="en-US" sz="1900">
                <a:solidFill>
                  <a:srgbClr val="1A1C1C"/>
                </a:solidFill>
              </a:rPr>
              <a:t>Model: gradient boosting on the UCI Default of Credit Card Clients data (30,000 rows, 22% default rate). AUC 0.77 on a held-out 20% split of that same dataset.</a:t>
            </a:r>
          </a:p>
          <a:p xmlns:a="http://schemas.openxmlformats.org/drawingml/2006/main">
            <a:r>
              <a:rPr lang="en-US" sz="1900">
                <a:solidFill>
                  <a:srgbClr val="1A1C1C"/>
                </a:solidFill>
              </a:rPr>
              <a:t/>
            </a:r>
          </a:p>
          <a:p xmlns:a="http://schemas.openxmlformats.org/drawingml/2006/main">
            <a:r>
              <a:rPr lang="en-US" sz="1900">
                <a:solidFill>
                  <a:srgbClr val="1A1C1C"/>
                </a:solidFill>
              </a:rPr>
              <a:t>Quality: 19 of 19 API tests pass; the browser test passes through upload, review, score, plan, options and chat.</a:t>
            </a:r>
          </a:p>
        </p:txBody>
      </p:sp>
      <p:sp>
        <p:nvSpPr>
          <p:cNvPr id="100042" name="Caveat"/>
          <p:cNvSpPr txBox="1"/>
          <p:nvPr/>
        </p:nvSpPr>
        <p:spPr>
          <a:xfrm xmlns:a="http://schemas.openxmlformats.org/drawingml/2006/main">
            <a:off x="540000" y="5220000"/>
            <a:ext cx="1098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B45309"/>
                </a:solidFill>
              </a:rPr>
              <a:t>Read this: latencies exclude real Gemini, Document AI and Vertex AI calls. The AUC is on Taiwan 2009 credit-card data and says nothing about Indian borrowers or the payment-regularity features.</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3" name="Title"/>
          <p:cNvSpPr txBox="1"/>
          <p:nvPr/>
        </p:nvSpPr>
        <p:spPr>
          <a:xfrm xmlns:a="http://schemas.openxmlformats.org/drawingml/2006/main">
            <a:off x="540000" y="360000"/>
            <a:ext cx="11160000" cy="79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04943"/>
                </a:solidFill>
              </a:rPr>
              <a:t>Additional details / future development</a:t>
            </a:r>
          </a:p>
        </p:txBody>
      </p:sp>
      <p:sp>
        <p:nvSpPr>
          <p:cNvPr id="100044" name="Body"/>
          <p:cNvSpPr txBox="1"/>
          <p:nvPr/>
        </p:nvSpPr>
        <p:spPr>
          <a:xfrm xmlns:a="http://schemas.openxmlformats.org/drawingml/2006/main">
            <a:off x="540000" y="1368000"/>
            <a:ext cx="10980000" cy="48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1A1C1C"/>
                </a:solidFill>
              </a:rPr>
              <a:t>1. Deploy to live Google Cloud and re-measure with real Gemini, Document AI and Vertex AI.</a:t>
            </a:r>
          </a:p>
          <a:p xmlns:a="http://schemas.openxmlformats.org/drawingml/2006/main">
            <a:r>
              <a:rPr lang="en-US" sz="2000">
                <a:solidFill>
                  <a:srgbClr val="1A1C1C"/>
                </a:solidFill>
              </a:rPr>
              <a:t>2. Replace the baseline with a larger credit-risk dataset behind the same feature-mapping layer, after checking licence and terms.</a:t>
            </a:r>
          </a:p>
          <a:p xmlns:a="http://schemas.openxmlformats.org/drawingml/2006/main">
            <a:r>
              <a:rPr lang="en-US" sz="2000">
                <a:solidFill>
                  <a:srgbClr val="1A1C1C"/>
                </a:solidFill>
              </a:rPr>
              <a:t>3. Account Aggregator for consented bank data (gives payment regularity, not due-date punctuality).</a:t>
            </a:r>
          </a:p>
          <a:p xmlns:a="http://schemas.openxmlformats.org/drawingml/2006/main">
            <a:r>
              <a:rPr lang="en-US" sz="2000">
                <a:solidFill>
                  <a:srgbClr val="1A1C1C"/>
                </a:solidFill>
              </a:rPr>
              <a:t>4. Per-applicant explanations, so "what helped" reflects the person and not global model weights.</a:t>
            </a:r>
          </a:p>
          <a:p xmlns:a="http://schemas.openxmlformats.org/drawingml/2006/main">
            <a:r>
              <a:rPr lang="en-US" sz="2000">
                <a:solidFill>
                  <a:srgbClr val="1A1C1C"/>
                </a:solidFill>
              </a:rPr>
              <a:t>5. Pilot with a regulated lender, validate on real outcomes, and monitor for bias.</a:t>
            </a:r>
          </a:p>
          <a:p xmlns:a="http://schemas.openxmlformats.org/drawingml/2006/main">
            <a:r>
              <a:rPr lang="en-US" sz="2000">
                <a:solidFill>
                  <a:srgbClr val="1A1C1C"/>
                </a:solidFill>
              </a:rPr>
              <a:t>6. Real translation in Hindi and Marathi through Gemini.</a:t>
            </a:r>
          </a:p>
        </p:txBody>
      </p:sp>
    </p:spTree>
  </p:cSld>
</p:sld>
</file>

<file path=ppt/slides/slide11.xml><?xml version="1.0" encoding="utf-8"?>
<p:sld xmlns:p="http://schemas.openxmlformats.org/presentationml/2006/main">
  <p:cSld>
    <p:bg>
      <p:bgPr>
        <a:solidFill xmlns:a="http://schemas.openxmlformats.org/drawingml/2006/main">
          <a:srgbClr val="004943"/>
        </a:solidFill>
      </p:bgPr>
    </p:bg>
    <p:spTree>
      <p:nvGrpSpPr>
        <p:cNvPr id="1" name=""/>
        <p:cNvGrpSpPr/>
        <p:nvPr/>
      </p:nvGrpSpPr>
      <p:grpSpPr/>
      <p:sp>
        <p:nvSpPr>
          <p:cNvPr id="100045" name="Title"/>
          <p:cNvSpPr txBox="1"/>
          <p:nvPr/>
        </p:nvSpPr>
        <p:spPr>
          <a:xfrm xmlns:a="http://schemas.openxmlformats.org/drawingml/2006/main">
            <a:off x="540000" y="540000"/>
            <a:ext cx="1116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FFFFFF"/>
                </a:solidFill>
              </a:rPr>
              <a:t>Links</a:t>
            </a:r>
          </a:p>
        </p:txBody>
      </p:sp>
      <p:sp>
        <p:nvSpPr>
          <p:cNvPr id="100046" name="Body"/>
          <p:cNvSpPr txBox="1"/>
          <p:nvPr/>
        </p:nvSpPr>
        <p:spPr>
          <a:xfrm xmlns:a="http://schemas.openxmlformats.org/drawingml/2006/main">
            <a:off x="540000" y="1800000"/>
            <a:ext cx="10980000" cy="28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600">
                <a:solidFill>
                  <a:srgbClr val="A7F0E6"/>
                </a:solidFill>
              </a:rPr>
              <a:t>GitHub public repository: [ADD LINK]</a:t>
            </a:r>
          </a:p>
          <a:p xmlns:a="http://schemas.openxmlformats.org/drawingml/2006/main">
            <a:r>
              <a:rPr lang="en-US" sz="2600">
                <a:solidFill>
                  <a:srgbClr val="A7F0E6"/>
                </a:solidFill>
              </a:rPr>
              <a:t/>
            </a:r>
          </a:p>
          <a:p xmlns:a="http://schemas.openxmlformats.org/drawingml/2006/main">
            <a:r>
              <a:rPr lang="en-US" sz="2600">
                <a:solidFill>
                  <a:srgbClr val="A7F0E6"/>
                </a:solidFill>
              </a:rPr>
              <a:t>Demo video (3 minutes): [ADD LINK]</a:t>
            </a:r>
          </a:p>
          <a:p xmlns:a="http://schemas.openxmlformats.org/drawingml/2006/main">
            <a:r>
              <a:rPr lang="en-US" sz="2600">
                <a:solidFill>
                  <a:srgbClr val="A7F0E6"/>
                </a:solidFill>
              </a:rPr>
              <a:t/>
            </a:r>
          </a:p>
          <a:p xmlns:a="http://schemas.openxmlformats.org/drawingml/2006/main">
            <a:r>
              <a:rPr lang="en-US" sz="2600">
                <a:solidFill>
                  <a:srgbClr val="A7F0E6"/>
                </a:solidFill>
              </a:rPr>
              <a:t>Final product link: [ADD LINK]</a:t>
            </a:r>
          </a:p>
        </p:txBody>
      </p:sp>
      <p:sp>
        <p:nvSpPr>
          <p:cNvPr id="100047" name="Closing"/>
          <p:cNvSpPr txBox="1"/>
          <p:nvPr/>
        </p:nvSpPr>
        <p:spPr>
          <a:xfrm xmlns:a="http://schemas.openxmlformats.org/drawingml/2006/main">
            <a:off x="540000" y="5040000"/>
            <a:ext cx="1098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rPr>
              <a:t>Making the invisible visible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OfficeCLI/1.0.157</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2026-10-18T14:06:08Z</dcterms:created>
  <cp:lastModifiedBy>OfficeCLI</cp:lastModifiedBy>
  <dcterms:modified xsi:type="dcterms:W3CDTF">2026-10-18T14:06:08Z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2026-10-18T15:01:16Z</vt:lpwstr>
  </op:property>
</op:Properties>
</file>